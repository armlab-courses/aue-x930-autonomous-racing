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8"/>
  </p:notesMasterIdLst>
  <p:sldIdLst>
    <p:sldId id="978" r:id="rId5"/>
    <p:sldId id="1000" r:id="rId6"/>
    <p:sldId id="1006" r:id="rId7"/>
    <p:sldId id="1007" r:id="rId8"/>
    <p:sldId id="1008" r:id="rId9"/>
    <p:sldId id="1013" r:id="rId10"/>
    <p:sldId id="997" r:id="rId11"/>
    <p:sldId id="1002" r:id="rId12"/>
    <p:sldId id="1003" r:id="rId13"/>
    <p:sldId id="1004" r:id="rId14"/>
    <p:sldId id="1005" r:id="rId15"/>
    <p:sldId id="1014" r:id="rId16"/>
    <p:sldId id="992" r:id="rId17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6122"/>
    <a:srgbClr val="747474"/>
    <a:srgbClr val="FF0000"/>
    <a:srgbClr val="7030A0"/>
    <a:srgbClr val="FFFFFF"/>
    <a:srgbClr val="000000"/>
    <a:srgbClr val="865640"/>
    <a:srgbClr val="BD582C"/>
    <a:srgbClr val="E48312"/>
    <a:srgbClr val="89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5386" autoAdjust="0"/>
  </p:normalViewPr>
  <p:slideViewPr>
    <p:cSldViewPr snapToGrid="0">
      <p:cViewPr varScale="1">
        <p:scale>
          <a:sx n="91" d="100"/>
          <a:sy n="91" d="100"/>
        </p:scale>
        <p:origin x="772" y="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5DEAA-09E7-BE1F-F6B7-DCBA78044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2F57D1-809A-6178-B724-2A46BFB50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1B4B03-2FBB-225E-80F6-942CE3373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8CA5A-5AB6-4FC2-6B44-A7CF91D54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436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591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1A6C-B0A6-2F49-4452-9ED50F8B7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65302-F3E6-4581-166D-85B93A418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4C39C-986B-B38E-0A00-B625B9DD8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AC217-0C96-395B-F67C-F7FAA97181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889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5C22B-60D8-3555-B665-4E2F97C6E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E3D64-8830-D344-61A9-F188528A9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8D857-87A2-8E95-90D4-287FDE5BC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112F3-D50D-25BB-CA46-A429583E6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373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 | Autonomous Vehicles: Racing Application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 | Autonomous Vehicles: Racing Application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github.com/Tinker-Twins/AuE-X930-Autonomous-Racing/blob/main/LAB-03%20Reactive%20Autonomy/reactive_autonomy/reactive_autonomy/emergency_braking.py" TargetMode="External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13.png"/><Relationship Id="rId3" Type="http://schemas.openxmlformats.org/officeDocument/2006/relationships/image" Target="../media/image27.png"/><Relationship Id="rId7" Type="http://schemas.openxmlformats.org/officeDocument/2006/relationships/image" Target="../media/image270.png"/><Relationship Id="rId12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13.png"/><Relationship Id="rId10" Type="http://schemas.openxmlformats.org/officeDocument/2006/relationships/image" Target="../media/image39.png"/><Relationship Id="rId4" Type="http://schemas.openxmlformats.org/officeDocument/2006/relationships/image" Target="../media/image27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27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8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27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5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3.png"/><Relationship Id="rId5" Type="http://schemas.openxmlformats.org/officeDocument/2006/relationships/hyperlink" Target="https://github.com/Tinker-Twins/AuE-X930-Autonomous-Racing/blob/main/LAB-03%20Reactive%20Autonomy/reactive_autonomy/reactive_autonomy/wall_following.py" TargetMode="External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LAB-03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Reactive Autonomy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7E58-E30A-C48C-BBF3-AF9BD0709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2BFD925-5E16-381D-969E-AE72979B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806" y="2581278"/>
            <a:ext cx="1828800" cy="1828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5E87FD-425A-9800-DE3E-D733192D9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B75EA-BE07-2B05-76F2-8B74A68BC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Emergency braking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Single measurement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Multiple measurements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Wall following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Follow just one wall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Follow both the walls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Gap following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Follow largest gap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Disparity extender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Perception-enhanced vehicle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64744-192D-0D53-5DD0-C7AE1DAF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34CD4-6C67-BBF6-9E67-9A71A8A4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872ED3-FA44-AAD8-0F1D-BF6F14EC3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133038-1DA0-1850-8CEE-42B0CD4CA9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508405" y="1440360"/>
            <a:ext cx="1822724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2161B87-9DB2-B64E-EB92-E7EDD74695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99683" y="4095750"/>
            <a:ext cx="182295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52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7F5CA-BC4C-B1D9-E96B-7646D2F3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AB45F-4FF2-77BE-4027-DE8D96F59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B7F69B-3D8D-0FF6-1B90-066C088C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B57708-4AF3-D133-C527-8CCDA9199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83F801-C399-C1E8-EA56-072657F20E53}"/>
              </a:ext>
            </a:extLst>
          </p:cNvPr>
          <p:cNvSpPr txBox="1"/>
          <p:nvPr/>
        </p:nvSpPr>
        <p:spPr>
          <a:xfrm>
            <a:off x="2760798" y="2207834"/>
            <a:ext cx="66704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rgbClr val="F16122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Emergency Braking</a:t>
            </a:r>
          </a:p>
        </p:txBody>
      </p:sp>
    </p:spTree>
    <p:extLst>
      <p:ext uri="{BB962C8B-B14F-4D97-AF65-F5344CB8AC3E}">
        <p14:creationId xmlns:p14="http://schemas.microsoft.com/office/powerpoint/2010/main" val="2177112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314D-21A1-AC94-83C4-95824AFD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C61A17E-E30F-EDEF-69C2-F06C53485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Single Measurement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1344567-3C70-524D-1873-F0D35BBFA7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Consider a frontal laser beam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laser beam measures distance w.r.t. LIDAR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LIDAR is offset from the front bumper by a distance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Hence, the distance to collision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𝐷𝑇𝐶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a safe DTC threshold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(e.g., 3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wheelbase)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Emergency braking behavior requires: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sz="160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 smtClean="0">
                                <a:solidFill>
                                  <a:srgbClr val="74747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rgbClr val="00B050"/>
                                </a:solidFill>
                                <a:latin typeface="Consolas" panose="020B0609020204030204" pitchFamily="49" charset="0"/>
                              </a:rPr>
                              <m:t>       Speed setpoint</m:t>
                            </m:r>
                          </m:e>
                          <m:e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;         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          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rgbClr val="FF0000"/>
                                </a:solidFill>
                                <a:latin typeface="Consolas" panose="020B0609020204030204" pitchFamily="49" charset="0"/>
                              </a:rPr>
                              <m:t>AEB triggered</m:t>
                            </m:r>
                          </m:e>
                        </m:eqArr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Zero steering angle is enforced: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Instead of hard-braking, you can implement a controller to reduce the velocity proportional to the DTC for smoother braking.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1344567-3C70-524D-1873-F0D35BBFA7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  <a:blipFill>
                <a:blip r:embed="rId2"/>
                <a:stretch>
                  <a:fillRect l="-394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FDB2A-CE42-975F-B6C1-2581A716F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59103-7F75-B185-793E-FA674D1FD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AF7B9C4-AC36-22D0-B5FC-F65B93D6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5182" y="2669499"/>
            <a:ext cx="8532421" cy="3657600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2B3C733B-A20E-63F7-0DF4-F993FB9E5146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3F868AF-EBC6-75AC-41F8-25EB12BCB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</a:blip>
            <a:srcRect l="5" r="5"/>
            <a:stretch/>
          </p:blipFill>
          <p:spPr>
            <a:xfrm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E42EE77-1143-D677-B434-2973E0EB7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645" y="2076450"/>
              <a:ext cx="0" cy="2193511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FE6F632-A495-3BC1-51F3-B870694D8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1622" y="3766035"/>
              <a:ext cx="0" cy="50392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55F514-C46A-782F-9DAB-9754A1BB73E2}"/>
                    </a:ext>
                  </a:extLst>
                </p:cNvPr>
                <p:cNvSpPr txBox="1"/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55F514-C46A-782F-9DAB-9754A1BB7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121" r="-12121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64E3829A-16CC-2A95-2BA1-1E2E9842FB29}"/>
                    </a:ext>
                  </a:extLst>
                </p:cNvPr>
                <p:cNvSpPr txBox="1"/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𝐷𝑇𝐶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64E3829A-16CC-2A95-2BA1-1E2E9842F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8235" r="-823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5C77ADC-5831-0993-A41D-9CBC808DA920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4274562"/>
              <a:ext cx="63866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C01F5CA-464C-BA4D-ABBD-D78D4C500EA5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3779046"/>
              <a:ext cx="63866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F442602-D623-7617-86C1-E12B17600D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2378" y="2038350"/>
              <a:ext cx="0" cy="174069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5007CE-620B-1705-2C97-0AB1A683BB7B}"/>
                    </a:ext>
                  </a:extLst>
                </p:cNvPr>
                <p:cNvSpPr txBox="1"/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5007CE-620B-1705-2C97-0AB1A683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2857" r="-22857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96729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7B683-214F-8410-3096-91E86D05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C25B4D3-02F0-7B83-6577-0421D0AFF7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Small issue: </a:t>
                </a:r>
                <a:r>
                  <a:rPr lang="en-US" sz="1600" dirty="0">
                    <a:latin typeface="Consolas" panose="020B0609020204030204" pitchFamily="49" charset="0"/>
                  </a:rPr>
                  <a:t>Using a single measurement can be suboptimal. A spurious return due to any reason (noise, dust, a reflection) can become the new minimum and seem like an obstacle (a.k.a. the “ghost obstacle” problem in autonomous racing). A vehicle traveling at high speeds may not have enough time to recover and may </a:t>
                </a:r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crash!</a:t>
                </a:r>
              </a:p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Proposed solution: </a:t>
                </a:r>
                <a:r>
                  <a:rPr lang="en-US" sz="1600" dirty="0">
                    <a:latin typeface="Consolas" panose="020B0609020204030204" pitchFamily="49" charset="0"/>
                  </a:rPr>
                  <a:t>We can consider multiple range measurements across a small sector on the front. The frontal distance can be then computed as the mean of these readings, which is more stable/reliable.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a safe DTC threshold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(e.g., 3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wheelbase)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Emergency braking behavior requires: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nor/>
                              </m:rPr>
                              <a:rPr lang="en-US" sz="1600" i="0">
                                <a:solidFill>
                                  <a:srgbClr val="00B050"/>
                                </a:solidFill>
                                <a:latin typeface="Consolas" panose="020B0609020204030204" pitchFamily="49" charset="0"/>
                              </a:rPr>
                              <m:t>       Speed setpoint</m:t>
                            </m:r>
                          </m:e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;         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          </m:t>
                            </m:r>
                            <m:r>
                              <m:rPr>
                                <m:nor/>
                              </m:rPr>
                              <a:rPr lang="en-US" sz="1600" i="0">
                                <a:solidFill>
                                  <a:srgbClr val="FF0000"/>
                                </a:solidFill>
                                <a:latin typeface="Consolas" panose="020B0609020204030204" pitchFamily="49" charset="0"/>
                              </a:rPr>
                              <m:t>AEB triggered</m:t>
                            </m:r>
                          </m:e>
                        </m:eqArr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Zero steering angle is enforced: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C25B4D3-02F0-7B83-6577-0421D0AFF7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16BF0EC3-4A11-75B4-C1D2-AE927798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Multiple Measurements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FCDE4-4AB0-74A9-679A-7729A7D9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98B71-CCC5-CF99-9A90-2830D2A16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CE4FB6E-2F3F-7DE2-D066-9039D718E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4505484-BE4A-676C-E1C7-DC8532C04CDD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DF57E47-7E0B-509A-48E2-6F305BF1C0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</a:blip>
            <a:srcRect l="5" r="5"/>
            <a:stretch/>
          </p:blipFill>
          <p:spPr>
            <a:xfrm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D06B739-713D-9D49-8848-FC6F29F195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645" y="2076450"/>
              <a:ext cx="0" cy="2193511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8BCB25C-F48D-881D-A62A-DB5E2EFA45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1622" y="3766035"/>
              <a:ext cx="0" cy="50392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EC72D4-63C2-2255-F916-DB04B64AD1BB}"/>
                    </a:ext>
                  </a:extLst>
                </p:cNvPr>
                <p:cNvSpPr txBox="1"/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EC72D4-63C2-2255-F916-DB04B64AD1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2121" r="-12121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EF2072-3634-0A92-D1F0-DE6F4B01003D}"/>
                    </a:ext>
                  </a:extLst>
                </p:cNvPr>
                <p:cNvSpPr txBox="1"/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𝐷𝑇𝐶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EF2072-3634-0A92-D1F0-DE6F4B0100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8235" r="-823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71CEE2E-C866-2FF4-736B-A8A94A7B0442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4274562"/>
              <a:ext cx="63866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79966F2-A9B3-3D2E-9809-06746D3E6A65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3779046"/>
              <a:ext cx="63866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B03DF09-FD70-CA92-0A5F-806D5C4F3C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2378" y="2038350"/>
              <a:ext cx="0" cy="174069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1ED96AF-1B35-1AE5-E330-C25C46EE6E9F}"/>
                    </a:ext>
                  </a:extLst>
                </p:cNvPr>
                <p:cNvSpPr txBox="1"/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1ED96AF-1B35-1AE5-E330-C25C46EE6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2857" r="-22857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Partial Circle 15">
            <a:extLst>
              <a:ext uri="{FF2B5EF4-FFF2-40B4-BE49-F238E27FC236}">
                <a16:creationId xmlns:a16="http://schemas.microsoft.com/office/drawing/2014/main" id="{06FA4625-619B-E68E-993A-57808C9C7856}"/>
              </a:ext>
            </a:extLst>
          </p:cNvPr>
          <p:cNvSpPr/>
          <p:nvPr/>
        </p:nvSpPr>
        <p:spPr>
          <a:xfrm rot="10800000">
            <a:off x="8535623" y="2070081"/>
            <a:ext cx="2856044" cy="4404361"/>
          </a:xfrm>
          <a:prstGeom prst="pie">
            <a:avLst>
              <a:gd name="adj1" fmla="val 4724679"/>
              <a:gd name="adj2" fmla="val 6083878"/>
            </a:avLst>
          </a:prstGeom>
          <a:solidFill>
            <a:srgbClr val="FF00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2529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CE0A169B-F26C-FED9-6F9B-80443A7EE4EA}"/>
              </a:ext>
            </a:extLst>
          </p:cNvPr>
          <p:cNvSpPr/>
          <p:nvPr/>
        </p:nvSpPr>
        <p:spPr>
          <a:xfrm>
            <a:off x="8819620" y="4996961"/>
            <a:ext cx="2743200" cy="1097280"/>
          </a:xfrm>
          <a:prstGeom prst="snip2DiagRect">
            <a:avLst/>
          </a:prstGeom>
          <a:solidFill>
            <a:srgbClr val="F16122">
              <a:alpha val="20000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  <a:hlinkClick r:id="rId4"/>
              </a:rPr>
              <a:t>Reference Code</a:t>
            </a:r>
            <a:endParaRPr lang="en-US" sz="1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AE0FD31F-10AD-0203-AF8A-FFE3A6514F09}"/>
                  </a:ext>
                </a:extLst>
              </p:cNvPr>
              <p:cNvSpPr/>
              <p:nvPr/>
            </p:nvSpPr>
            <p:spPr>
              <a:xfrm>
                <a:off x="8819620" y="3401332"/>
                <a:ext cx="2743200" cy="1280160"/>
              </a:xfrm>
              <a:prstGeom prst="snip2DiagRect">
                <a:avLst/>
              </a:prstGeom>
              <a:solidFill>
                <a:srgbClr val="F16122">
                  <a:alpha val="20000"/>
                </a:srgb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Secondary Objective: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Performance</a:t>
                </a:r>
              </a:p>
              <a:p>
                <a:endParaRPr lang="en-US" sz="12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Assessment: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Distance to collision </a:t>
                </a:r>
                <a14:m>
                  <m:oMath xmlns:m="http://schemas.openxmlformats.org/officeDocument/2006/math">
                    <m:r>
                      <a:rPr lang="en-US" sz="1200" i="1" smtClean="0">
                        <a:solidFill>
                          <a:srgbClr val="747474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 1 m</a:t>
                </a:r>
                <a:endParaRPr lang="en-US" sz="16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AE0FD31F-10AD-0203-AF8A-FFE3A6514F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620" y="3401332"/>
                <a:ext cx="2743200" cy="1280160"/>
              </a:xfrm>
              <a:prstGeom prst="snip2Diag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CC237C51-3FEE-8C3D-98F7-97E27B949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Emergency Braking Demo</a:t>
            </a:r>
            <a:endParaRPr lang="en-US" dirty="0"/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17BE838D-0521-4747-488C-84F2AA3C0E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005911" y="5240796"/>
            <a:ext cx="609610" cy="60961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55B0F5-BEF0-A9F8-AC10-43D1D810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707E7-BBDF-C101-7E8D-EBA67C5EB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17" name="Emergency Braking">
            <a:hlinkClick r:id="" action="ppaction://media"/>
            <a:extLst>
              <a:ext uri="{FF2B5EF4-FFF2-40B4-BE49-F238E27FC236}">
                <a16:creationId xmlns:a16="http://schemas.microsoft.com/office/drawing/2014/main" id="{4FD01169-FB19-20A4-CE43-20D415BA39E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9179" y="1809750"/>
            <a:ext cx="7624063" cy="42885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88CE7814-7E57-27AE-2BE7-438C25B49F75}"/>
                  </a:ext>
                </a:extLst>
              </p:cNvPr>
              <p:cNvSpPr/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solidFill>
                <a:srgbClr val="F16122">
                  <a:alpha val="20000"/>
                </a:srgb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Primary Objective: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Safety</a:t>
                </a:r>
              </a:p>
              <a:p>
                <a:endParaRPr lang="en-US" sz="12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Assessment: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Collision count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747474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88CE7814-7E57-27AE-2BE7-438C25B49F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F32AEBE-54CF-20C3-91D1-620020AD30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246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55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4E31-2BE0-64FB-BB66-BDCE35617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CA4C0C-515E-47A0-98E1-9951B120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54A95-7467-86F5-51E2-9D438D28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092EEF-E8DD-5992-D38F-FA57C3550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3FF15C-E8BD-63BA-DD98-C396BE9196D5}"/>
              </a:ext>
            </a:extLst>
          </p:cNvPr>
          <p:cNvSpPr txBox="1"/>
          <p:nvPr/>
        </p:nvSpPr>
        <p:spPr>
          <a:xfrm>
            <a:off x="3333066" y="2207834"/>
            <a:ext cx="55258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rgbClr val="F16122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Wall Following</a:t>
            </a:r>
          </a:p>
        </p:txBody>
      </p:sp>
    </p:spTree>
    <p:extLst>
      <p:ext uri="{BB962C8B-B14F-4D97-AF65-F5344CB8AC3E}">
        <p14:creationId xmlns:p14="http://schemas.microsoft.com/office/powerpoint/2010/main" val="170878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4DD6A5D-517F-D42C-9347-B6CC8AAA6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Just One Wall</a:t>
            </a:r>
            <a:endParaRPr lang="en-US" dirty="0">
              <a:solidFill>
                <a:srgbClr val="74747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A95E2C4-A166-19DE-5C61-25F2D689FC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distance to the right wall at the current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vehicle be oriented at an angle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w.r.t. right wall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Consider two laser beams:</a:t>
                </a:r>
              </a:p>
              <a:p>
                <a:pPr marL="0" indent="0" algn="just">
                  <a:buNone/>
                </a:pPr>
                <a:r>
                  <a:rPr lang="en-US" sz="1600" b="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to the right of the vehicle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any arbitrary angle </a:t>
                </a:r>
                <a14:m>
                  <m:oMath xmlns:m="http://schemas.openxmlformats.org/officeDocument/2006/math">
                    <m:r>
                      <a:rPr lang="en-US" sz="1600" b="0" i="0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sz="1600" b="0" i="0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6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≤70</m:t>
                    </m:r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w.r.t. beam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Using trigonometry, we can express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We can then express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func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a reference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b="0" i="0" smtClean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A95E2C4-A166-19DE-5C61-25F2D689F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  <a:blipFill>
                <a:blip r:embed="rId2"/>
                <a:stretch>
                  <a:fillRect l="-394" t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C64B92-E444-3B99-0A7A-52AECD124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39CB5-F232-46D5-2D4C-76CA98564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8</a:t>
            </a:fld>
            <a:endParaRPr lang="en-US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F6BCAC-0EF9-7A11-D907-1F8063840668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4803311" y="1809750"/>
            <a:chExt cx="3185651" cy="4288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C905C1F-61CA-CD56-2928-E4EFD8CD8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70000" contrast="-70000"/>
            </a:blip>
            <a:srcRect l="39327" t="23654" r="39962" b="26780"/>
            <a:stretch>
              <a:fillRect/>
            </a:stretch>
          </p:blipFill>
          <p:spPr>
            <a:xfrm flipV="1">
              <a:off x="4803311" y="1809750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6181DD8-8B3B-3F65-E07E-538F4AF6D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47550" y="3697083"/>
              <a:ext cx="1239778" cy="20366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834545C-F65E-AF9E-D797-A894937DA241}"/>
                </a:ext>
              </a:extLst>
            </p:cNvPr>
            <p:cNvCxnSpPr>
              <a:cxnSpLocks/>
            </p:cNvCxnSpPr>
            <p:nvPr/>
          </p:nvCxnSpPr>
          <p:spPr>
            <a:xfrm>
              <a:off x="6457863" y="2508250"/>
              <a:ext cx="0" cy="2894388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D0049C2-860A-8F0D-47DE-F4079B4A3C8B}"/>
                </a:ext>
              </a:extLst>
            </p:cNvPr>
            <p:cNvCxnSpPr>
              <a:cxnSpLocks/>
            </p:cNvCxnSpPr>
            <p:nvPr/>
          </p:nvCxnSpPr>
          <p:spPr>
            <a:xfrm>
              <a:off x="6337657" y="2929284"/>
              <a:ext cx="223773" cy="1982074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F1D5865-B8D3-CD76-F7E0-4C441E1C52E8}"/>
                </a:ext>
              </a:extLst>
            </p:cNvPr>
            <p:cNvSpPr/>
            <p:nvPr/>
          </p:nvSpPr>
          <p:spPr>
            <a:xfrm>
              <a:off x="5705062" y="3016980"/>
              <a:ext cx="1484976" cy="1484976"/>
            </a:xfrm>
            <a:prstGeom prst="arc">
              <a:avLst>
                <a:gd name="adj1" fmla="val 15751725"/>
                <a:gd name="adj2" fmla="val 16224206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C4597A07-8A01-4F01-3974-C7A146C820C3}"/>
                </a:ext>
              </a:extLst>
            </p:cNvPr>
            <p:cNvSpPr/>
            <p:nvPr/>
          </p:nvSpPr>
          <p:spPr>
            <a:xfrm>
              <a:off x="5893364" y="3151696"/>
              <a:ext cx="1484976" cy="1484976"/>
            </a:xfrm>
            <a:prstGeom prst="arc">
              <a:avLst>
                <a:gd name="adj1" fmla="val 20948364"/>
                <a:gd name="adj2" fmla="val 31345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5E3B784-56AB-2F63-6B68-F53210142EA5}"/>
                </a:ext>
              </a:extLst>
            </p:cNvPr>
            <p:cNvCxnSpPr>
              <a:cxnSpLocks/>
            </p:cNvCxnSpPr>
            <p:nvPr/>
          </p:nvCxnSpPr>
          <p:spPr>
            <a:xfrm>
              <a:off x="6447550" y="3901196"/>
              <a:ext cx="123977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15B3283-91EF-B405-C4FC-BBFBB4052F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47247" y="2698564"/>
              <a:ext cx="1197541" cy="120218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2C48B139-5D91-A6C5-B13E-BCECC8BA11C1}"/>
                </a:ext>
              </a:extLst>
            </p:cNvPr>
            <p:cNvSpPr/>
            <p:nvPr/>
          </p:nvSpPr>
          <p:spPr>
            <a:xfrm>
              <a:off x="5438594" y="3304591"/>
              <a:ext cx="1484976" cy="1484976"/>
            </a:xfrm>
            <a:prstGeom prst="arc">
              <a:avLst>
                <a:gd name="adj1" fmla="val 19304303"/>
                <a:gd name="adj2" fmla="val 20576145"/>
              </a:avLst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6B789CC-6445-9286-269F-B42B83805F14}"/>
                </a:ext>
              </a:extLst>
            </p:cNvPr>
            <p:cNvCxnSpPr>
              <a:cxnSpLocks/>
            </p:cNvCxnSpPr>
            <p:nvPr/>
          </p:nvCxnSpPr>
          <p:spPr>
            <a:xfrm>
              <a:off x="6447550" y="5041459"/>
              <a:ext cx="1239778" cy="0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8BBD8209-3B98-DE2D-AD52-79BCD10417E9}"/>
                    </a:ext>
                  </a:extLst>
                </p:cNvPr>
                <p:cNvSpPr txBox="1"/>
                <p:nvPr/>
              </p:nvSpPr>
              <p:spPr>
                <a:xfrm>
                  <a:off x="6260699" y="2672303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8BBD8209-3B98-DE2D-AD52-79BCD1041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60699" y="2672303"/>
                  <a:ext cx="20197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C8B3E6E-025E-7AD0-52A7-792DF8081C68}"/>
                    </a:ext>
                  </a:extLst>
                </p:cNvPr>
                <p:cNvSpPr txBox="1"/>
                <p:nvPr/>
              </p:nvSpPr>
              <p:spPr>
                <a:xfrm>
                  <a:off x="7418621" y="3654117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C8B3E6E-025E-7AD0-52A7-792DF8081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8621" y="3654117"/>
                  <a:ext cx="201978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1827185-EBBB-1A3C-7097-607EC2D86577}"/>
                    </a:ext>
                  </a:extLst>
                </p:cNvPr>
                <p:cNvSpPr txBox="1"/>
                <p:nvPr/>
              </p:nvSpPr>
              <p:spPr>
                <a:xfrm>
                  <a:off x="6859732" y="3471302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1827185-EBBB-1A3C-7097-607EC2D865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9732" y="3471302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4242" r="-2121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D8EAC8-A1C1-EFDB-8737-49E167FA0F24}"/>
                    </a:ext>
                  </a:extLst>
                </p:cNvPr>
                <p:cNvSpPr txBox="1"/>
                <p:nvPr/>
              </p:nvSpPr>
              <p:spPr>
                <a:xfrm>
                  <a:off x="6886766" y="2982068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D8EAC8-A1C1-EFDB-8737-49E167FA0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6766" y="2982068"/>
                  <a:ext cx="20550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1765" r="-8824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FF37748-8360-A7AC-552B-AC6FE1526322}"/>
                    </a:ext>
                  </a:extLst>
                </p:cNvPr>
                <p:cNvSpPr txBox="1"/>
                <p:nvPr/>
              </p:nvSpPr>
              <p:spPr>
                <a:xfrm>
                  <a:off x="7115577" y="347508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FF37748-8360-A7AC-552B-AC6FE15263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5577" y="3475085"/>
                  <a:ext cx="205505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4242" r="-21212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8606C76-E5DA-6895-46F1-D9117D7EB3C3}"/>
                    </a:ext>
                  </a:extLst>
                </p:cNvPr>
                <p:cNvSpPr txBox="1"/>
                <p:nvPr/>
              </p:nvSpPr>
              <p:spPr>
                <a:xfrm>
                  <a:off x="6217290" y="3770080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8606C76-E5DA-6895-46F1-D9117D7EB3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7290" y="3770080"/>
                  <a:ext cx="21704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444" r="-222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E809FFD-3007-8345-5988-BEE0B8874F7E}"/>
                    </a:ext>
                  </a:extLst>
                </p:cNvPr>
                <p:cNvSpPr txBox="1"/>
                <p:nvPr/>
              </p:nvSpPr>
              <p:spPr>
                <a:xfrm>
                  <a:off x="7654463" y="3770080"/>
                  <a:ext cx="2274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E809FFD-3007-8345-5988-BEE0B8874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4463" y="3770080"/>
                  <a:ext cx="227435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21622" r="-18919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E632319-12A7-AB94-B3D8-F4FEEE7DCA64}"/>
                    </a:ext>
                  </a:extLst>
                </p:cNvPr>
                <p:cNvSpPr txBox="1"/>
                <p:nvPr/>
              </p:nvSpPr>
              <p:spPr>
                <a:xfrm>
                  <a:off x="6457863" y="5034565"/>
                  <a:ext cx="11871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E632319-12A7-AB94-B3D8-F4FEEE7DCA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863" y="5034565"/>
                  <a:ext cx="1187184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4124" r="-3608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AA5B0E5-A538-617A-C3FB-C558786974FB}"/>
                    </a:ext>
                  </a:extLst>
                </p:cNvPr>
                <p:cNvSpPr txBox="1"/>
                <p:nvPr/>
              </p:nvSpPr>
              <p:spPr>
                <a:xfrm>
                  <a:off x="5845820" y="3792616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AA5B0E5-A538-617A-C3FB-C55878697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820" y="3792616"/>
                  <a:ext cx="317010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3462" r="-1923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7E7CF1A4-C5B1-32EB-F599-9000EAC3621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205182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222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2E154-FA1A-B9B8-1C3E-0545BA4CB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A9D46B7-D98C-B34F-2AED-4B98CD870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Small issue: </a:t>
                </a:r>
                <a:r>
                  <a:rPr lang="en-US" sz="1600" dirty="0">
                    <a:latin typeface="Consolas" panose="020B0609020204030204" pitchFamily="49" charset="0"/>
                  </a:rPr>
                  <a:t>The vehicle will be traveling at a high speeds and will have a non-instantaneous response to whatever speed and steering commands are computed. If we simply use the current distance to the wall, the vehicle might end up turning too late and may </a:t>
                </a:r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crash!</a:t>
                </a:r>
              </a:p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Proposed solution: </a:t>
                </a:r>
                <a:r>
                  <a:rPr lang="en-US" sz="1600" dirty="0">
                    <a:latin typeface="Consolas" panose="020B0609020204030204" pitchFamily="49" charset="0"/>
                  </a:rPr>
                  <a:t>We can account for this delay and project the vehicle ahead by a certain lookahead distance (let's call it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).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We can express projected distance to the wall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func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now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, or adapt the velocity based on steering.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A9D46B7-D98C-B34F-2AED-4B98CD870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3CA06301-B0B0-CEC1-9056-FADAFB151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Just One Wall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41E76-829F-E78D-9F0F-F58FD2A0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388FF-18D5-314E-E792-BF269EF73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AEA561E-5C83-CC40-35FA-70372A30F864}"/>
              </a:ext>
            </a:extLst>
          </p:cNvPr>
          <p:cNvGrpSpPr/>
          <p:nvPr/>
        </p:nvGrpSpPr>
        <p:grpSpPr>
          <a:xfrm>
            <a:off x="8377169" y="1809750"/>
            <a:ext cx="3185651" cy="4288537"/>
            <a:chOff x="8377169" y="1809750"/>
            <a:chExt cx="3185651" cy="4288537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D74E2AF-A030-E6BC-714B-45C7C5092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</a:blip>
            <a:srcRect l="39327" t="14850" r="39962" b="35584"/>
            <a:stretch>
              <a:fillRect/>
            </a:stretch>
          </p:blipFill>
          <p:spPr>
            <a:xfrm flipV="1">
              <a:off x="8377169" y="1809750"/>
              <a:ext cx="3185651" cy="428853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4B12BDE8-6A94-823D-060F-D60CF38B0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  <a:alphaModFix amt="50000"/>
            </a:blip>
            <a:srcRect l="47331" t="39971" r="47171" b="43096"/>
            <a:stretch>
              <a:fillRect/>
            </a:stretch>
          </p:blipFill>
          <p:spPr>
            <a:xfrm flipV="1">
              <a:off x="9762293" y="3778562"/>
              <a:ext cx="845662" cy="1465090"/>
            </a:xfrm>
            <a:prstGeom prst="rect">
              <a:avLst/>
            </a:prstGeom>
            <a:ln>
              <a:noFill/>
            </a:ln>
            <a:effectLst>
              <a:softEdge rad="127000"/>
            </a:effectLst>
          </p:spPr>
        </p:pic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E1EB799E-2590-E723-A63D-01B6783CC351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564" y="1893645"/>
              <a:ext cx="0" cy="3511017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D1517CC-FE0A-70A7-2B34-6E1995A76353}"/>
                </a:ext>
              </a:extLst>
            </p:cNvPr>
            <p:cNvCxnSpPr>
              <a:cxnSpLocks/>
            </p:cNvCxnSpPr>
            <p:nvPr/>
          </p:nvCxnSpPr>
          <p:spPr>
            <a:xfrm>
              <a:off x="9929882" y="2330232"/>
              <a:ext cx="331181" cy="2933449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0A958B6-E3EF-4FFC-B0A5-4BD4FE5F2227}"/>
                </a:ext>
              </a:extLst>
            </p:cNvPr>
            <p:cNvCxnSpPr>
              <a:cxnSpLocks/>
            </p:cNvCxnSpPr>
            <p:nvPr/>
          </p:nvCxnSpPr>
          <p:spPr>
            <a:xfrm>
              <a:off x="10021408" y="3139462"/>
              <a:ext cx="123977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A408397B-438C-43B2-54E9-9340BCA1C1A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1408" y="5383040"/>
              <a:ext cx="1239778" cy="0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AF53C4-9448-1D23-36E6-264A8F0F7B31}"/>
                    </a:ext>
                  </a:extLst>
                </p:cNvPr>
                <p:cNvSpPr txBox="1"/>
                <p:nvPr/>
              </p:nvSpPr>
              <p:spPr>
                <a:xfrm>
                  <a:off x="9791148" y="3008346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AF53C4-9448-1D23-36E6-264A8F0F7B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1148" y="3008346"/>
                  <a:ext cx="21704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9444" r="-19444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E621CBD-3475-F16B-9CB2-F55F42EECEB5}"/>
                    </a:ext>
                  </a:extLst>
                </p:cNvPr>
                <p:cNvSpPr txBox="1"/>
                <p:nvPr/>
              </p:nvSpPr>
              <p:spPr>
                <a:xfrm>
                  <a:off x="11228321" y="3008346"/>
                  <a:ext cx="23596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E621CBD-3475-F16B-9CB2-F55F42EECE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28321" y="3008346"/>
                  <a:ext cx="23596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0513" r="-1538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348C299-7561-AF3A-EA7A-46FC5660FB60}"/>
                    </a:ext>
                  </a:extLst>
                </p:cNvPr>
                <p:cNvSpPr txBox="1"/>
                <p:nvPr/>
              </p:nvSpPr>
              <p:spPr>
                <a:xfrm>
                  <a:off x="9963990" y="5376146"/>
                  <a:ext cx="140679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348C299-7561-AF3A-EA7A-46FC5660FB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3990" y="5376146"/>
                  <a:ext cx="140679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3478" r="-3043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08720A3-9145-19D1-8400-4FEF31A296E5}"/>
                </a:ext>
              </a:extLst>
            </p:cNvPr>
            <p:cNvCxnSpPr>
              <a:cxnSpLocks/>
            </p:cNvCxnSpPr>
            <p:nvPr/>
          </p:nvCxnSpPr>
          <p:spPr>
            <a:xfrm>
              <a:off x="10170662" y="1893645"/>
              <a:ext cx="0" cy="3363138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2C60A566-1049-265B-2D66-0A1D3791DF0A}"/>
                </a:ext>
              </a:extLst>
            </p:cNvPr>
            <p:cNvSpPr/>
            <p:nvPr/>
          </p:nvSpPr>
          <p:spPr>
            <a:xfrm>
              <a:off x="9293446" y="2409669"/>
              <a:ext cx="1484976" cy="1484976"/>
            </a:xfrm>
            <a:prstGeom prst="arc">
              <a:avLst>
                <a:gd name="adj1" fmla="val 15751725"/>
                <a:gd name="adj2" fmla="val 16150615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35126AC-E5EE-0453-96D6-32F87EACE10F}"/>
                    </a:ext>
                  </a:extLst>
                </p:cNvPr>
                <p:cNvSpPr txBox="1"/>
                <p:nvPr/>
              </p:nvSpPr>
              <p:spPr>
                <a:xfrm>
                  <a:off x="9852259" y="2064992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35126AC-E5EE-0453-96D6-32F87EACE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2259" y="2064992"/>
                  <a:ext cx="201978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9FBEC489-AE4F-9D41-787A-73570E61CAB6}"/>
                </a:ext>
              </a:extLst>
            </p:cNvPr>
            <p:cNvCxnSpPr>
              <a:cxnSpLocks/>
            </p:cNvCxnSpPr>
            <p:nvPr/>
          </p:nvCxnSpPr>
          <p:spPr>
            <a:xfrm>
              <a:off x="10179357" y="4460726"/>
              <a:ext cx="108182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B24A80D-ED44-FB38-E7EE-323D2A45652F}"/>
                    </a:ext>
                  </a:extLst>
                </p:cNvPr>
                <p:cNvSpPr txBox="1"/>
                <p:nvPr/>
              </p:nvSpPr>
              <p:spPr>
                <a:xfrm>
                  <a:off x="10200382" y="4176049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B24A80D-ED44-FB38-E7EE-323D2A4565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00382" y="4176049"/>
                  <a:ext cx="21704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444" r="-22222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62AD8FD-17C2-4533-616D-53BDF466C3BD}"/>
                    </a:ext>
                  </a:extLst>
                </p:cNvPr>
                <p:cNvSpPr txBox="1"/>
                <p:nvPr/>
              </p:nvSpPr>
              <p:spPr>
                <a:xfrm>
                  <a:off x="11149506" y="4176048"/>
                  <a:ext cx="2274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62AD8FD-17C2-4533-616D-53BDF466C3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49506" y="4176048"/>
                  <a:ext cx="227435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21622" r="-18919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3F16E36-4C1B-4B08-B26C-676DEB06666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3808" y="2011190"/>
              <a:ext cx="178280" cy="0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649546A6-B3D3-D4E2-9729-2327CEA3ACFF}"/>
                </a:ext>
              </a:extLst>
            </p:cNvPr>
            <p:cNvCxnSpPr>
              <a:cxnSpLocks/>
            </p:cNvCxnSpPr>
            <p:nvPr/>
          </p:nvCxnSpPr>
          <p:spPr>
            <a:xfrm>
              <a:off x="9845178" y="2011190"/>
              <a:ext cx="178280" cy="0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25598DD2-2D59-B474-69F1-8586D55428AF}"/>
                    </a:ext>
                  </a:extLst>
                </p:cNvPr>
                <p:cNvSpPr txBox="1"/>
                <p:nvPr/>
              </p:nvSpPr>
              <p:spPr>
                <a:xfrm>
                  <a:off x="10352088" y="1892859"/>
                  <a:ext cx="66870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𝐸𝑟𝑟𝑜𝑟</m:t>
                        </m:r>
                      </m:oMath>
                    </m:oMathPara>
                  </a14:m>
                  <a:endParaRPr lang="en-US" b="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25598DD2-2D59-B474-69F1-8586D55428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2088" y="1892859"/>
                  <a:ext cx="668709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6364" r="-7273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080FB640-0A37-D24C-5913-D84CADE2296C}"/>
                    </a:ext>
                  </a:extLst>
                </p:cNvPr>
                <p:cNvSpPr txBox="1"/>
                <p:nvPr/>
              </p:nvSpPr>
              <p:spPr>
                <a:xfrm>
                  <a:off x="9202247" y="3043501"/>
                  <a:ext cx="53662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080FB640-0A37-D24C-5913-D84CADE22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2247" y="3043501"/>
                  <a:ext cx="536621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9091" r="-2273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BEBE504A-0FB0-8821-7EE2-94EE0E453DE8}"/>
                    </a:ext>
                  </a:extLst>
                </p:cNvPr>
                <p:cNvSpPr txBox="1"/>
                <p:nvPr/>
              </p:nvSpPr>
              <p:spPr>
                <a:xfrm>
                  <a:off x="9581585" y="4329609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BEBE504A-0FB0-8821-7EE2-94EE0E453D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1585" y="4329609"/>
                  <a:ext cx="317010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5385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4BF8B4F-079A-BD05-5F03-0B16B6594EA4}"/>
                </a:ext>
              </a:extLst>
            </p:cNvPr>
            <p:cNvCxnSpPr>
              <a:cxnSpLocks/>
            </p:cNvCxnSpPr>
            <p:nvPr/>
          </p:nvCxnSpPr>
          <p:spPr>
            <a:xfrm>
              <a:off x="9753598" y="3238500"/>
              <a:ext cx="137987" cy="1222226"/>
            </a:xfrm>
            <a:prstGeom prst="line">
              <a:avLst/>
            </a:prstGeom>
            <a:ln w="12700">
              <a:solidFill>
                <a:srgbClr val="F16122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D106B0ED-E094-B8F6-9CB4-88D8042CAB49}"/>
                    </a:ext>
                  </a:extLst>
                </p:cNvPr>
                <p:cNvSpPr txBox="1"/>
                <p:nvPr/>
              </p:nvSpPr>
              <p:spPr>
                <a:xfrm>
                  <a:off x="9596831" y="3707244"/>
                  <a:ext cx="1971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en-US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D106B0ED-E094-B8F6-9CB4-88D8042CAB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6831" y="3707244"/>
                  <a:ext cx="197105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21212" r="-21212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0864E41-99B4-0BAD-82D3-72BBB51BE7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71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9506A-E2D5-79AC-ADA1-7EC23B89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39E217E-1BDB-C6D9-E753-D5B85BC88C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Consider two laser beams: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to the left of the vehicle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to the right of the vehicle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distance to the left wall at the current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distance to the right wall at the current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the difference between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, or adapt the velocity based on steering.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39E217E-1BDB-C6D9-E753-D5B85BC88C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CABB275B-AA86-7878-25A0-A6395F514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Both the Walls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73EE4-CE7A-528C-BCD6-E7DE6EA4C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90ACA-5BBE-2844-144C-142CCDEAD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CD7D008-D312-3E05-AC70-24D89BAFE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B9AF573C-E539-455B-A603-AB122C8F2A06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518B04-DF0F-32A2-BE9F-548C1BA88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</a:blip>
            <a:srcRect l="39327" t="23654" r="39962" b="26780"/>
            <a:stretch>
              <a:fillRect/>
            </a:stretch>
          </p:blipFill>
          <p:spPr>
            <a:xfrm flipV="1"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52AEE6D-297A-4EDC-7B25-CE55D6942A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21408" y="3693038"/>
              <a:ext cx="1239778" cy="203669"/>
            </a:xfrm>
            <a:prstGeom prst="straightConnector1">
              <a:avLst/>
            </a:prstGeom>
            <a:ln w="19050">
              <a:solidFill>
                <a:srgbClr val="7030A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95A836B-8C1C-A8BB-75F9-4A20B8D392D1}"/>
                </a:ext>
              </a:extLst>
            </p:cNvPr>
            <p:cNvCxnSpPr>
              <a:cxnSpLocks/>
            </p:cNvCxnSpPr>
            <p:nvPr/>
          </p:nvCxnSpPr>
          <p:spPr>
            <a:xfrm>
              <a:off x="9911515" y="2925239"/>
              <a:ext cx="223773" cy="1982074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CF74C9-E32B-B79B-C93A-F4E340A60C01}"/>
                    </a:ext>
                  </a:extLst>
                </p:cNvPr>
                <p:cNvSpPr txBox="1"/>
                <p:nvPr/>
              </p:nvSpPr>
              <p:spPr>
                <a:xfrm>
                  <a:off x="9217062" y="397989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CF74C9-E32B-B79B-C93A-F4E340A60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7062" y="3979895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1765" r="-8824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F20638-7DB6-7855-B1AC-A0A71F7A920E}"/>
                    </a:ext>
                  </a:extLst>
                </p:cNvPr>
                <p:cNvSpPr txBox="1"/>
                <p:nvPr/>
              </p:nvSpPr>
              <p:spPr>
                <a:xfrm>
                  <a:off x="10625127" y="3790368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F20638-7DB6-7855-B1AC-A0A71F7A9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5127" y="3790368"/>
                  <a:ext cx="20550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3529" r="-17647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92407B4-064C-1283-420C-A940A906ED35}"/>
                    </a:ext>
                  </a:extLst>
                </p:cNvPr>
                <p:cNvSpPr txBox="1"/>
                <p:nvPr/>
              </p:nvSpPr>
              <p:spPr>
                <a:xfrm>
                  <a:off x="9424902" y="3619130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92407B4-064C-1283-420C-A940A906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24902" y="3619130"/>
                  <a:ext cx="317010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3462" r="-1923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40B4822-CCEC-9B14-697B-777287460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16950" y="3895751"/>
              <a:ext cx="1405730" cy="230931"/>
            </a:xfrm>
            <a:prstGeom prst="straightConnector1">
              <a:avLst/>
            </a:prstGeom>
            <a:ln w="19050">
              <a:solidFill>
                <a:srgbClr val="F16122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117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48E4-3BC6-8206-86ED-003DB55D5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CBE510-E5A8-1D61-B29E-1114FEF6FB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Small issue: </a:t>
                </a:r>
                <a:r>
                  <a:rPr lang="en-US" sz="1600" dirty="0">
                    <a:latin typeface="Consolas" panose="020B0609020204030204" pitchFamily="49" charset="0"/>
                  </a:rPr>
                  <a:t>Using a single measurement can be suboptimal. A spurious return due to any reason (noise, dust, a reflection) can destabilize the controller and compromise its behavior. Vehicle traveling at high speed may not have enough time to recover and may </a:t>
                </a:r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crash!</a:t>
                </a:r>
              </a:p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Proposed solution: </a:t>
                </a:r>
                <a:r>
                  <a:rPr lang="en-US" sz="1600" dirty="0">
                    <a:latin typeface="Consolas" panose="020B0609020204030204" pitchFamily="49" charset="0"/>
                  </a:rPr>
                  <a:t>We can consider multiple range measurements across a small sector on either sides. The left and right distances can be then computed as the mean of these readings, which is more stable/reliable.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the difference between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, or adapt the velocity based on steering.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CBE510-E5A8-1D61-B29E-1114FEF6F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 b="-4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ED0E1E81-9871-BD10-3949-0735493FF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Both the Walls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4DE88-6FE8-9238-2E98-75CB36367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AEDA81-FA14-5433-AF8C-139871C06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9E90FCB-DFD1-3EEE-D42C-65F58BCE9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CBA6EC2-FBFB-B729-206A-3DA04AA2AC9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rcRect l="39327" t="23654" r="39962" b="26780"/>
          <a:stretch>
            <a:fillRect/>
          </a:stretch>
        </p:blipFill>
        <p:spPr>
          <a:xfrm flipV="1">
            <a:off x="8377169" y="1805705"/>
            <a:ext cx="3185651" cy="428853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62095-E766-3926-43D0-D4C6187B7D20}"/>
              </a:ext>
            </a:extLst>
          </p:cNvPr>
          <p:cNvCxnSpPr>
            <a:cxnSpLocks/>
          </p:cNvCxnSpPr>
          <p:nvPr/>
        </p:nvCxnSpPr>
        <p:spPr>
          <a:xfrm flipV="1">
            <a:off x="10021408" y="3693038"/>
            <a:ext cx="1239778" cy="203669"/>
          </a:xfrm>
          <a:prstGeom prst="straightConnector1">
            <a:avLst/>
          </a:prstGeom>
          <a:ln w="19050">
            <a:solidFill>
              <a:srgbClr val="7030A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6DD90-E38A-3CA2-9A50-BA860F705126}"/>
              </a:ext>
            </a:extLst>
          </p:cNvPr>
          <p:cNvCxnSpPr>
            <a:cxnSpLocks/>
          </p:cNvCxnSpPr>
          <p:nvPr/>
        </p:nvCxnSpPr>
        <p:spPr>
          <a:xfrm>
            <a:off x="9911515" y="2925239"/>
            <a:ext cx="223773" cy="1982074"/>
          </a:xfrm>
          <a:prstGeom prst="line">
            <a:avLst/>
          </a:prstGeom>
          <a:ln w="12700">
            <a:solidFill>
              <a:srgbClr val="74747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385C0F-86B2-4E79-8A73-C63E02841E82}"/>
                  </a:ext>
                </a:extLst>
              </p:cNvPr>
              <p:cNvSpPr txBox="1"/>
              <p:nvPr/>
            </p:nvSpPr>
            <p:spPr>
              <a:xfrm>
                <a:off x="9217062" y="3979895"/>
                <a:ext cx="2055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F16122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b="0" dirty="0">
                  <a:solidFill>
                    <a:srgbClr val="F16122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385C0F-86B2-4E79-8A73-C63E02841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7062" y="3979895"/>
                <a:ext cx="205505" cy="276999"/>
              </a:xfrm>
              <a:prstGeom prst="rect">
                <a:avLst/>
              </a:prstGeom>
              <a:blipFill>
                <a:blip r:embed="rId6"/>
                <a:stretch>
                  <a:fillRect l="-11765" r="-8824"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11E572-E1C7-A2B3-3F97-F51B739155AE}"/>
                  </a:ext>
                </a:extLst>
              </p:cNvPr>
              <p:cNvSpPr txBox="1"/>
              <p:nvPr/>
            </p:nvSpPr>
            <p:spPr>
              <a:xfrm>
                <a:off x="10625127" y="3790368"/>
                <a:ext cx="2055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b="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11E572-E1C7-A2B3-3F97-F51B73915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5127" y="3790368"/>
                <a:ext cx="205505" cy="276999"/>
              </a:xfrm>
              <a:prstGeom prst="rect">
                <a:avLst/>
              </a:prstGeom>
              <a:blipFill>
                <a:blip r:embed="rId7"/>
                <a:stretch>
                  <a:fillRect l="-23529" r="-1764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78B5B44-271E-39C8-6FAE-2DD33C299F83}"/>
                  </a:ext>
                </a:extLst>
              </p:cNvPr>
              <p:cNvSpPr txBox="1"/>
              <p:nvPr/>
            </p:nvSpPr>
            <p:spPr>
              <a:xfrm>
                <a:off x="9424902" y="3549280"/>
                <a:ext cx="317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78B5B44-271E-39C8-6FAE-2DD33C299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4902" y="3549280"/>
                <a:ext cx="317010" cy="276999"/>
              </a:xfrm>
              <a:prstGeom prst="rect">
                <a:avLst/>
              </a:prstGeom>
              <a:blipFill>
                <a:blip r:embed="rId8"/>
                <a:stretch>
                  <a:fillRect l="-13462" r="-1923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00E279E-B8FB-5375-915D-D7F8CC168AF8}"/>
              </a:ext>
            </a:extLst>
          </p:cNvPr>
          <p:cNvCxnSpPr>
            <a:cxnSpLocks/>
          </p:cNvCxnSpPr>
          <p:nvPr/>
        </p:nvCxnSpPr>
        <p:spPr>
          <a:xfrm flipH="1">
            <a:off x="8616950" y="3895751"/>
            <a:ext cx="1405730" cy="230931"/>
          </a:xfrm>
          <a:prstGeom prst="straightConnector1">
            <a:avLst/>
          </a:prstGeom>
          <a:ln w="19050">
            <a:solidFill>
              <a:srgbClr val="F16122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tial Circle 1">
            <a:extLst>
              <a:ext uri="{FF2B5EF4-FFF2-40B4-BE49-F238E27FC236}">
                <a16:creationId xmlns:a16="http://schemas.microsoft.com/office/drawing/2014/main" id="{FEF9C345-135F-8112-2586-3C93ABE77B9C}"/>
              </a:ext>
            </a:extLst>
          </p:cNvPr>
          <p:cNvSpPr/>
          <p:nvPr/>
        </p:nvSpPr>
        <p:spPr>
          <a:xfrm>
            <a:off x="8754856" y="2633962"/>
            <a:ext cx="2523796" cy="2523796"/>
          </a:xfrm>
          <a:prstGeom prst="pie">
            <a:avLst>
              <a:gd name="adj1" fmla="val 19824949"/>
              <a:gd name="adj2" fmla="val 697985"/>
            </a:avLst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Partial Circle 8">
            <a:extLst>
              <a:ext uri="{FF2B5EF4-FFF2-40B4-BE49-F238E27FC236}">
                <a16:creationId xmlns:a16="http://schemas.microsoft.com/office/drawing/2014/main" id="{45DCF4EC-23B6-8CD9-3F14-8E066F0FEB6C}"/>
              </a:ext>
            </a:extLst>
          </p:cNvPr>
          <p:cNvSpPr/>
          <p:nvPr/>
        </p:nvSpPr>
        <p:spPr>
          <a:xfrm rot="9900000">
            <a:off x="8606381" y="2465130"/>
            <a:ext cx="2856044" cy="2856044"/>
          </a:xfrm>
          <a:prstGeom prst="pie">
            <a:avLst>
              <a:gd name="adj1" fmla="val 20875278"/>
              <a:gd name="adj2" fmla="val 1224625"/>
            </a:avLst>
          </a:prstGeom>
          <a:solidFill>
            <a:srgbClr val="F1612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0879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D877F-A967-4F7E-54A2-AB5B5FEF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all Following">
            <a:hlinkClick r:id="" action="ppaction://media"/>
            <a:extLst>
              <a:ext uri="{FF2B5EF4-FFF2-40B4-BE49-F238E27FC236}">
                <a16:creationId xmlns:a16="http://schemas.microsoft.com/office/drawing/2014/main" id="{9A37E1EF-680F-F6EC-BC1E-51D0DEEB2B3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9178" y="1809750"/>
            <a:ext cx="7624064" cy="4288536"/>
          </a:xfrm>
          <a:prstGeom prst="rect">
            <a:avLst/>
          </a:prstGeom>
        </p:spPr>
      </p:pic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7CAD97FD-8279-4A91-FF01-BF8BEA663CFB}"/>
              </a:ext>
            </a:extLst>
          </p:cNvPr>
          <p:cNvSpPr/>
          <p:nvPr/>
        </p:nvSpPr>
        <p:spPr>
          <a:xfrm>
            <a:off x="8819620" y="4996961"/>
            <a:ext cx="2743200" cy="1097280"/>
          </a:xfrm>
          <a:prstGeom prst="snip2DiagRect">
            <a:avLst/>
          </a:prstGeom>
          <a:solidFill>
            <a:srgbClr val="F16122">
              <a:alpha val="20000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  <a:hlinkClick r:id="rId5"/>
              </a:rPr>
              <a:t>Reference Code</a:t>
            </a:r>
            <a:endParaRPr lang="en-US" sz="1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0C5DEDA5-6CED-4157-F6C1-8763334072A1}"/>
              </a:ext>
            </a:extLst>
          </p:cNvPr>
          <p:cNvSpPr/>
          <p:nvPr/>
        </p:nvSpPr>
        <p:spPr>
          <a:xfrm>
            <a:off x="8819620" y="3401332"/>
            <a:ext cx="2743200" cy="1280160"/>
          </a:xfrm>
          <a:prstGeom prst="snip2DiagRect">
            <a:avLst/>
          </a:prstGeom>
          <a:solidFill>
            <a:srgbClr val="F16122">
              <a:alpha val="20000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Secondary Objective:</a:t>
            </a:r>
          </a:p>
          <a:p>
            <a:r>
              <a:rPr lang="en-US" sz="1200" dirty="0">
                <a:solidFill>
                  <a:srgbClr val="747474"/>
                </a:solidFill>
                <a:latin typeface="Consolas" panose="020B0609020204030204" pitchFamily="49" charset="0"/>
              </a:rPr>
              <a:t>Performance</a:t>
            </a:r>
          </a:p>
          <a:p>
            <a:endParaRPr lang="en-US" sz="1200" dirty="0">
              <a:solidFill>
                <a:srgbClr val="747474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Assessment:</a:t>
            </a:r>
          </a:p>
          <a:p>
            <a:r>
              <a:rPr lang="en-US" sz="1200" dirty="0">
                <a:solidFill>
                  <a:srgbClr val="747474"/>
                </a:solidFill>
                <a:latin typeface="Consolas" panose="020B0609020204030204" pitchFamily="49" charset="0"/>
              </a:rPr>
              <a:t>Minimize lap time</a:t>
            </a:r>
            <a:endParaRPr lang="en-US" sz="1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443F9-4679-9853-7AF1-1BF60C104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Wall Following Demo</a:t>
            </a:r>
            <a:endParaRPr lang="en-US" dirty="0"/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6EC228D-1F9E-6D7F-ADF4-E036A1493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005911" y="5240796"/>
            <a:ext cx="609610" cy="60961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2062F-5DDE-F74D-82D5-7FD53B111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2A22B1-1A06-90D9-E0D9-BEA979D98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D6EA2E72-6A7C-DD80-40CD-BAF138DC8575}"/>
                  </a:ext>
                </a:extLst>
              </p:cNvPr>
              <p:cNvSpPr/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solidFill>
                <a:srgbClr val="F16122">
                  <a:alpha val="20000"/>
                </a:srgb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Primary Objective: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Safety</a:t>
                </a:r>
              </a:p>
              <a:p>
                <a:endParaRPr lang="en-US" sz="12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Assessment: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Collision count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747474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D6EA2E72-6A7C-DD80-40CD-BAF138DC85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D6C041D1-ECB6-BAE9-8609-1C2A529A6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473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06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Props1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schemas.microsoft.com/office/2006/documentManagement/types"/>
    <ds:schemaRef ds:uri="74a92416-d9ca-4b07-a40e-6415e67b2c58"/>
    <ds:schemaRef ds:uri="f41829d9-305b-4af6-8494-753a2a44d293"/>
    <ds:schemaRef ds:uri="http://purl.org/dc/dcmitype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34323</TotalTime>
  <Words>1036</Words>
  <Application>Microsoft Office PowerPoint</Application>
  <PresentationFormat>Widescreen</PresentationFormat>
  <Paragraphs>163</Paragraphs>
  <Slides>13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Cambria Math</vt:lpstr>
      <vt:lpstr>Consolas</vt:lpstr>
      <vt:lpstr>Wingdings 2</vt:lpstr>
      <vt:lpstr>Wingdings 3</vt:lpstr>
      <vt:lpstr>ARMLab CU-ICAR</vt:lpstr>
      <vt:lpstr>LAB-03 Reactive Autonomy</vt:lpstr>
      <vt:lpstr>Lab Outline and Expected Outcomes</vt:lpstr>
      <vt:lpstr>PowerPoint Presentation</vt:lpstr>
      <vt:lpstr>Formulation A: Single Measurement</vt:lpstr>
      <vt:lpstr>Formulation B: Multiple Measurements</vt:lpstr>
      <vt:lpstr>Emergency Braking Demo</vt:lpstr>
      <vt:lpstr>PowerPoint Presentation</vt:lpstr>
      <vt:lpstr>Formulation A: Follow Just One Wall</vt:lpstr>
      <vt:lpstr>Formulation A: Follow Just One Wall</vt:lpstr>
      <vt:lpstr>Formulation B: Follow Both the Walls</vt:lpstr>
      <vt:lpstr>Formulation B: Follow Both the Walls</vt:lpstr>
      <vt:lpstr>Wall Following Demo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Tanmay Samak</cp:lastModifiedBy>
  <cp:revision>390</cp:revision>
  <dcterms:created xsi:type="dcterms:W3CDTF">2020-04-29T07:35:04Z</dcterms:created>
  <dcterms:modified xsi:type="dcterms:W3CDTF">2026-10-18T00:07:08Z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