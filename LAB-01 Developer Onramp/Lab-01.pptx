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7"/>
  </p:notesMasterIdLst>
  <p:sldIdLst>
    <p:sldId id="978" r:id="rId5"/>
    <p:sldId id="993" r:id="rId6"/>
    <p:sldId id="979" r:id="rId7"/>
    <p:sldId id="1000" r:id="rId8"/>
    <p:sldId id="999" r:id="rId9"/>
    <p:sldId id="996" r:id="rId10"/>
    <p:sldId id="1001" r:id="rId11"/>
    <p:sldId id="1002" r:id="rId12"/>
    <p:sldId id="997" r:id="rId13"/>
    <p:sldId id="1003" r:id="rId14"/>
    <p:sldId id="1004" r:id="rId15"/>
    <p:sldId id="992" r:id="rId16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FFFF"/>
    <a:srgbClr val="000000"/>
    <a:srgbClr val="7030A0"/>
    <a:srgbClr val="865640"/>
    <a:srgbClr val="BD582C"/>
    <a:srgbClr val="E48312"/>
    <a:srgbClr val="898989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5386" autoAdjust="0"/>
  </p:normalViewPr>
  <p:slideViewPr>
    <p:cSldViewPr snapToGrid="0">
      <p:cViewPr varScale="1">
        <p:scale>
          <a:sx n="91" d="100"/>
          <a:sy n="91" d="100"/>
        </p:scale>
        <p:origin x="772" y="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hyperlink" Target="https://github.com/Tinker-Twins/AuE-X930-Autonomous-Racing/blob/main/LAB-01%20Developer%20Onramp/Linux-101.m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hyperlink" Target="https://github.com/Tinker-Twins/AuE-X930-Autonomous-Racing/blob/main/LAB-01%20Developer%20Onramp/Git-101.m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hyperlink" Target="https://github.com/Tinker-Twins/AuE-X930-Autonomous-Racing/blob/main/LAB-01%20Developer%20Onramp/Docker-101.md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LAB-01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Developer Onramp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FD470-6EAE-E360-A0CE-7F30D89F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295A7-1152-B937-2F42-2DEAA1E9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D8DE9-E68E-7861-C301-F7973F8B0E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Development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Linux (Ubuntu 22.04)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Windows Subsystem for Linux (WSL 2)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Version Control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Git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GitHub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Containerization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Hub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Develop, collaborate, package &amp; deploy seamlessly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D6294-8365-40EE-175A-6E53CC33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80128-1037-D53A-CFD9-C6896FA5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FA7712-F4A6-C040-AFE4-1F5C1663B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8FB216-3513-060A-7DBC-0266E995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509" y="2266950"/>
            <a:ext cx="1539394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1E99C-4B17-15CB-F0E8-9270388B4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2701" y="4095750"/>
            <a:ext cx="2320119" cy="1828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BA650E-A1EE-9FD6-8247-2516F803A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5367" y="1440360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827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152D-761E-C7AA-9698-5C9B4703F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11AD9-931F-CD74-FF8E-1AC31BB3C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D2F8D-3A96-8A40-D9C0-19DAFA21A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F547B5C-B20F-B337-7360-5004BB5F4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307B7BD-35D4-E8CB-802B-AE371B692688}"/>
              </a:ext>
            </a:extLst>
          </p:cNvPr>
          <p:cNvGrpSpPr/>
          <p:nvPr/>
        </p:nvGrpSpPr>
        <p:grpSpPr>
          <a:xfrm>
            <a:off x="3721910" y="2205548"/>
            <a:ext cx="4748179" cy="927902"/>
            <a:chOff x="3067960" y="2207727"/>
            <a:chExt cx="4748179" cy="92790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FEDB1FD-1822-FEA9-1B80-1C2ACB06FF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67960" y="2207727"/>
              <a:ext cx="777394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831A3C-B61A-AE4F-AC30-8C5639381578}"/>
                </a:ext>
              </a:extLst>
            </p:cNvPr>
            <p:cNvSpPr txBox="1"/>
            <p:nvPr/>
          </p:nvSpPr>
          <p:spPr>
            <a:xfrm>
              <a:off x="4197841" y="2212299"/>
              <a:ext cx="3618298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Linux 101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EFDAE4-EFD3-635E-DF3F-75F986096C8F}"/>
              </a:ext>
            </a:extLst>
          </p:cNvPr>
          <p:cNvGrpSpPr/>
          <p:nvPr/>
        </p:nvGrpSpPr>
        <p:grpSpPr>
          <a:xfrm>
            <a:off x="8941561" y="5678424"/>
            <a:ext cx="3179158" cy="493776"/>
            <a:chOff x="4484791" y="2669499"/>
            <a:chExt cx="3179158" cy="49377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ED4A55-2FC7-B97B-4DF2-459A2A673412}"/>
                </a:ext>
              </a:extLst>
            </p:cNvPr>
            <p:cNvSpPr txBox="1"/>
            <p:nvPr/>
          </p:nvSpPr>
          <p:spPr>
            <a:xfrm>
              <a:off x="5286375" y="2669499"/>
              <a:ext cx="2377574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600" dirty="0">
                  <a:latin typeface="Consolas" panose="020B0609020204030204" pitchFamily="49" charset="0"/>
                  <a:hlinkClick r:id="rId4"/>
                </a:rPr>
                <a:t>Linux-101.md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6" name="Picture 5" descr="File:Markdown-mark.svg">
              <a:extLst>
                <a:ext uri="{FF2B5EF4-FFF2-40B4-BE49-F238E27FC236}">
                  <a16:creationId xmlns:a16="http://schemas.microsoft.com/office/drawing/2014/main" id="{AD8E332B-9210-D331-DEE8-E9BA5DCD2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2905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64D77-B25B-8BA2-6DF1-98666E783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6A8F2C9-DB5D-89A7-B284-EE7B3B71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Linux 101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CA0F259-FE2F-6537-F38C-BF4633C53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Linux makes a developer’s life easy!</a:t>
            </a:r>
          </a:p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Course context: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Autonomous vehicle projects often run on Linux because robotics tools, simulators, build systems, and embedded computing workflows are commonly developed for Linux.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Learning goals: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Navigate the filesystem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Create, inspect, copy, move, and remove files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Search for files and text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Understand paths, permissions, commands, and processes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Manage packages with apt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Use command history, redirection, and pipes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Find help when a command is unfamiliar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B521E-BD27-1EAC-3B0C-4263F89DE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400ABA-0717-534A-D0E8-68F938B60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5D99D6-1748-AF37-2D8D-6BDBFBBC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2174" y="2669499"/>
            <a:ext cx="8532421" cy="3657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527A56-D4DF-6485-9B55-653DA2D1E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29" y="3351041"/>
            <a:ext cx="230909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23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8E3D25-4EB0-7135-B58E-8F2784F76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79" y="1809750"/>
            <a:ext cx="8624550" cy="4284491"/>
          </a:xfrm>
        </p:spPr>
        <p:txBody>
          <a:bodyPr/>
          <a:lstStyle/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terminal</a:t>
            </a:r>
            <a:r>
              <a:rPr lang="en-US" sz="1600" dirty="0">
                <a:latin typeface="Consolas" panose="020B0609020204030204" pitchFamily="49" charset="0"/>
              </a:rPr>
              <a:t> is the window where you type commands and see output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shell</a:t>
            </a:r>
            <a:r>
              <a:rPr lang="en-US" sz="1600" dirty="0">
                <a:latin typeface="Consolas" panose="020B0609020204030204" pitchFamily="49" charset="0"/>
              </a:rPr>
              <a:t> is the program that reads your commands; Bash is a common shell on Ubuntu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filesystem</a:t>
            </a:r>
            <a:r>
              <a:rPr lang="en-US" sz="1600" dirty="0">
                <a:latin typeface="Consolas" panose="020B0609020204030204" pitchFamily="49" charset="0"/>
              </a:rPr>
              <a:t> is the tree of directories and files beginning at /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process</a:t>
            </a:r>
            <a:r>
              <a:rPr lang="en-US" sz="1600" dirty="0">
                <a:latin typeface="Consolas" panose="020B0609020204030204" pitchFamily="49" charset="0"/>
              </a:rPr>
              <a:t> is a program that is currently running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Most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commands</a:t>
            </a:r>
            <a:r>
              <a:rPr lang="en-US" sz="1600" dirty="0">
                <a:latin typeface="Consolas" panose="020B0609020204030204" pitchFamily="49" charset="0"/>
              </a:rPr>
              <a:t> either inspect or change the filesystem, start a process, or connect these ideas together with pipes and redirection</a:t>
            </a:r>
          </a:p>
        </p:txBody>
      </p:sp>
      <p:pic>
        <p:nvPicPr>
          <p:cNvPr id="10" name="Content Placeholder 22">
            <a:extLst>
              <a:ext uri="{FF2B5EF4-FFF2-40B4-BE49-F238E27FC236}">
                <a16:creationId xmlns:a16="http://schemas.microsoft.com/office/drawing/2014/main" id="{7A5402D2-FE5D-6606-8147-2CD035331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20" y="1809750"/>
            <a:ext cx="10934700" cy="174147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58D3D44B-9568-1572-F4B5-F879C102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Linux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3EA6D-2ADD-0F68-BD0F-F11C5D031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942AF-51DF-E6AC-383F-4C7E1C70F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FD8FEE-3A40-2A08-6B76-23474DC11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A514F5-4719-53A8-0A95-7F90C093D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9" y="3351041"/>
            <a:ext cx="230909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147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6011-F8D6-1A75-7715-F333C243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08826-AB18-8352-406B-376FBD0FF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D0067E-73B1-DE51-EDE2-86599BFB6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1CDF065-57FE-2FC3-9C22-60BFC2AC9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1BB82EF-5268-724E-F815-D5277718C949}"/>
              </a:ext>
            </a:extLst>
          </p:cNvPr>
          <p:cNvGrpSpPr/>
          <p:nvPr/>
        </p:nvGrpSpPr>
        <p:grpSpPr>
          <a:xfrm>
            <a:off x="4066887" y="2205548"/>
            <a:ext cx="4058225" cy="927902"/>
            <a:chOff x="3648835" y="2205548"/>
            <a:chExt cx="4058225" cy="92790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B5519CC-BC87-2EEE-77C3-B3E99F7AC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8835" y="2205548"/>
              <a:ext cx="923544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1798BC-0ED3-CF5D-587A-EECC4B894BAF}"/>
                </a:ext>
              </a:extLst>
            </p:cNvPr>
            <p:cNvSpPr txBox="1"/>
            <p:nvPr/>
          </p:nvSpPr>
          <p:spPr>
            <a:xfrm>
              <a:off x="4851791" y="2210120"/>
              <a:ext cx="285526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Git 101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745A891-8F6A-C960-3478-F9F8CCFDEECF}"/>
              </a:ext>
            </a:extLst>
          </p:cNvPr>
          <p:cNvGrpSpPr/>
          <p:nvPr/>
        </p:nvGrpSpPr>
        <p:grpSpPr>
          <a:xfrm>
            <a:off x="9307046" y="5677091"/>
            <a:ext cx="2813673" cy="493776"/>
            <a:chOff x="4484791" y="2669499"/>
            <a:chExt cx="2813673" cy="49377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0BE4E3-517E-1789-F1D9-BF7BC32B1E46}"/>
                </a:ext>
              </a:extLst>
            </p:cNvPr>
            <p:cNvSpPr txBox="1"/>
            <p:nvPr/>
          </p:nvSpPr>
          <p:spPr>
            <a:xfrm>
              <a:off x="5286375" y="2669499"/>
              <a:ext cx="2012089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600" dirty="0">
                  <a:latin typeface="Consolas" panose="020B0609020204030204" pitchFamily="49" charset="0"/>
                  <a:hlinkClick r:id="rId4"/>
                </a:rPr>
                <a:t>Git-101.md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12" name="Picture 11" descr="File:Markdown-mark.svg">
              <a:extLst>
                <a:ext uri="{FF2B5EF4-FFF2-40B4-BE49-F238E27FC236}">
                  <a16:creationId xmlns:a16="http://schemas.microsoft.com/office/drawing/2014/main" id="{7F21D38C-7A38-F657-3169-136B88CDF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8103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C3BEF-7C81-33F3-8A87-7604F48A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F82339-2245-79EC-F414-9EB550F68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F15A24"/>
                </a:solidFill>
                <a:latin typeface="Consolas" panose="020B0609020204030204" pitchFamily="49" charset="0"/>
              </a:rPr>
              <a:t>Git turns edits into traceable history!</a:t>
            </a:r>
            <a:endParaRPr lang="en-US" sz="1600" b="1" dirty="0">
              <a:solidFill>
                <a:srgbClr val="F16122"/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Course context: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Autonomous racing teams use Git to track changes to the autonomy stack, simulation configurations, and documentation. GitHub provides a shared platform for reviewing, testing, and integrating the project efficiently.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Learning goals: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Create or clone a Git repository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Understand working-tree, staging-area, and commit states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Make focused commits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Inspect history and changes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Work with branches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Connect a local repository to GitHub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Pull and push changes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Handle merge conflicts safely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124BC1-CF1A-5D67-0B30-F114AF98D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9620" y="3351041"/>
            <a:ext cx="2743200" cy="27432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DA84A6-DD8D-4FB2-1BB7-76924F8A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Git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D9897-2EC6-D5D2-7412-F36B7E40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24AC37-31F3-E956-1121-2840109C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F52CD4-D72D-797B-EC2D-80F9B0096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217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606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3D95-D0E7-EEF5-222C-716A06E73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A73242-31A1-4BEC-D5F8-69F2A01B5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79" y="1809750"/>
            <a:ext cx="8190441" cy="4284491"/>
          </a:xfrm>
        </p:spPr>
        <p:txBody>
          <a:bodyPr/>
          <a:lstStyle/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working tree </a:t>
            </a:r>
            <a:r>
              <a:rPr lang="en-US" sz="1600" dirty="0">
                <a:latin typeface="Consolas" panose="020B0609020204030204" pitchFamily="49" charset="0"/>
              </a:rPr>
              <a:t>is what you currently see and edit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staging area </a:t>
            </a:r>
            <a:r>
              <a:rPr lang="en-US" sz="1600" dirty="0">
                <a:latin typeface="Consolas" panose="020B0609020204030204" pitchFamily="49" charset="0"/>
              </a:rPr>
              <a:t>is the exact set of changes selected for the next commit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commit</a:t>
            </a:r>
            <a:r>
              <a:rPr lang="en-US" sz="1600" dirty="0">
                <a:latin typeface="Consolas" panose="020B0609020204030204" pitchFamily="49" charset="0"/>
              </a:rPr>
              <a:t> is a saved snapshot with an author, timestamp, identifier, and message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remote repository </a:t>
            </a:r>
            <a:r>
              <a:rPr lang="en-US" sz="1600" dirty="0">
                <a:latin typeface="Consolas" panose="020B0609020204030204" pitchFamily="49" charset="0"/>
              </a:rPr>
              <a:t>is a shared copy of the repository on a hosting platform; GitHub is one example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88ED5B-551B-288E-C71F-57B43FA1B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79" y="1809583"/>
            <a:ext cx="10936224" cy="15092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46A559-607D-7A36-6D5A-ACDB821B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9620" y="3351041"/>
            <a:ext cx="2743200" cy="27432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65A6A20C-197B-90B7-716E-4DF8FB52E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Git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A3A5-930B-61E4-48B3-36E20C77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AD6F6A-F5D3-9F71-C945-05F4511DA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7CAD12-1463-06B6-B35B-DFB89B6B5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405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52BB-472C-6DC9-61C6-98B001A6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779D-E629-0EE6-ABF3-3B72C396F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CED2D0-1772-CD72-9580-4710B9DB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AF406D0-00F1-5098-EF3F-F5A7D3E72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21F66D9-6F18-B9C3-74B8-E3F4B53A34AB}"/>
              </a:ext>
            </a:extLst>
          </p:cNvPr>
          <p:cNvGrpSpPr/>
          <p:nvPr/>
        </p:nvGrpSpPr>
        <p:grpSpPr>
          <a:xfrm>
            <a:off x="3432586" y="2205548"/>
            <a:ext cx="5326827" cy="927902"/>
            <a:chOff x="3942829" y="2205548"/>
            <a:chExt cx="5326827" cy="92790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A55586-B9E1-C9CD-3973-5B1967E15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42829" y="2205548"/>
              <a:ext cx="1171660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AEECBB6-2B79-634B-6CDA-889F5A6BF50D}"/>
                </a:ext>
              </a:extLst>
            </p:cNvPr>
            <p:cNvSpPr txBox="1"/>
            <p:nvPr/>
          </p:nvSpPr>
          <p:spPr>
            <a:xfrm>
              <a:off x="5269843" y="2210120"/>
              <a:ext cx="399981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Docker 101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C61B1CC-C490-F540-C7F2-7EC65058B055}"/>
              </a:ext>
            </a:extLst>
          </p:cNvPr>
          <p:cNvGrpSpPr/>
          <p:nvPr/>
        </p:nvGrpSpPr>
        <p:grpSpPr>
          <a:xfrm>
            <a:off x="8758819" y="5677091"/>
            <a:ext cx="3361900" cy="493776"/>
            <a:chOff x="4484791" y="2669499"/>
            <a:chExt cx="3361900" cy="4937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FFD55DB-856F-83B1-8A02-8FC5B4A00D01}"/>
                </a:ext>
              </a:extLst>
            </p:cNvPr>
            <p:cNvSpPr txBox="1"/>
            <p:nvPr/>
          </p:nvSpPr>
          <p:spPr>
            <a:xfrm>
              <a:off x="5286375" y="2669499"/>
              <a:ext cx="2560316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600" dirty="0">
                  <a:latin typeface="Consolas" panose="020B0609020204030204" pitchFamily="49" charset="0"/>
                  <a:hlinkClick r:id="rId4"/>
                </a:rPr>
                <a:t>Docker-101.md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16" name="Picture 15" descr="File:Markdown-mark.svg">
              <a:extLst>
                <a:ext uri="{FF2B5EF4-FFF2-40B4-BE49-F238E27FC236}">
                  <a16:creationId xmlns:a16="http://schemas.microsoft.com/office/drawing/2014/main" id="{C3A26789-B6A8-3955-974B-5422E9EA0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1639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853A8-3E5E-20BC-D919-64F4809F5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F35863-26F6-DEBE-1110-9159D695D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F15A24"/>
                </a:solidFill>
                <a:latin typeface="Consolas" panose="020B0609020204030204" pitchFamily="49" charset="0"/>
              </a:rPr>
              <a:t>Docker makes the environment portable!</a:t>
            </a:r>
          </a:p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Course context: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Docker can give every student a consistent environment for the simulator, robotics middleware, build dependencies, etc. even when host computers differ.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Learning goals: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Explain images, containers, registries, volumes, and bind mounts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Run and inspect containers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Map ports and files between host and container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Write a basic </a:t>
            </a:r>
            <a:r>
              <a:rPr lang="en-US" sz="1400" dirty="0" err="1">
                <a:latin typeface="Consolas" panose="020B0609020204030204" pitchFamily="49" charset="0"/>
              </a:rPr>
              <a:t>Dockerfile</a:t>
            </a:r>
            <a:endParaRPr lang="en-US" sz="14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Build and tag an image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Use Docker Compose for a small multi-container setup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Clean up resources safely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3EE4654-E06B-E1AB-9142-DFDE1A4C5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Docker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66A48-AF66-0AA5-A41D-35E9DEA0F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F06D7-8693-A8F6-6E58-FC4D052F1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60047-0F30-E7A6-E107-58B018015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2174" y="2669499"/>
            <a:ext cx="8532421" cy="36576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7544A80-D95E-879B-E54F-8AA1AD6AC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9620" y="3931954"/>
            <a:ext cx="2743200" cy="216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84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AB5C-0C4C-D189-01B7-5B3D3F9A4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26F548-5CF7-1B8B-BB38-CFB6284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767" y="1809750"/>
            <a:ext cx="5770466" cy="201168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95B4647-B443-132F-C3FE-9FE479F9E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79" y="1809750"/>
            <a:ext cx="8190441" cy="4284491"/>
          </a:xfrm>
        </p:spPr>
        <p:txBody>
          <a:bodyPr/>
          <a:lstStyle/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 err="1">
                <a:solidFill>
                  <a:srgbClr val="F16122"/>
                </a:solidFill>
                <a:latin typeface="Consolas" panose="020B0609020204030204" pitchFamily="49" charset="0"/>
              </a:rPr>
              <a:t>Dockerfile</a:t>
            </a:r>
            <a:r>
              <a:rPr lang="en-US" sz="1600" dirty="0">
                <a:latin typeface="Consolas" panose="020B0609020204030204" pitchFamily="49" charset="0"/>
              </a:rPr>
              <a:t> is a recipe for building an image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An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image</a:t>
            </a:r>
            <a:r>
              <a:rPr lang="en-US" sz="1600" dirty="0">
                <a:latin typeface="Consolas" panose="020B0609020204030204" pitchFamily="49" charset="0"/>
              </a:rPr>
              <a:t> is a read-only packaged filesystem and configuration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container</a:t>
            </a:r>
            <a:r>
              <a:rPr lang="en-US" sz="1600" dirty="0">
                <a:latin typeface="Consolas" panose="020B0609020204030204" pitchFamily="49" charset="0"/>
              </a:rPr>
              <a:t> is a running or stopped instance of an image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registry</a:t>
            </a:r>
            <a:r>
              <a:rPr lang="en-US" sz="1600" dirty="0">
                <a:latin typeface="Consolas" panose="020B0609020204030204" pitchFamily="49" charset="0"/>
              </a:rPr>
              <a:t> stores images; Docker Hub is one example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volume</a:t>
            </a:r>
            <a:r>
              <a:rPr lang="en-US" sz="1600" dirty="0">
                <a:latin typeface="Consolas" panose="020B0609020204030204" pitchFamily="49" charset="0"/>
              </a:rPr>
              <a:t> stores data managed by Docker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bind mount </a:t>
            </a:r>
            <a:r>
              <a:rPr lang="en-US" sz="1600" dirty="0">
                <a:latin typeface="Consolas" panose="020B0609020204030204" pitchFamily="49" charset="0"/>
              </a:rPr>
              <a:t>exposes a specific host path inside a container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BC86E44-13BF-0DB0-012B-51640914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Docker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F598A-96BC-A4D0-4E60-3B455A4FA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A3BF99-6DDD-C5D0-BED4-AF236395C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2A7127-228D-0DFA-DEA7-4394B83A0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4A3836-F400-50AF-CA7C-C1B1411535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9620" y="3931954"/>
            <a:ext cx="2743200" cy="216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1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purl.org/dc/dcmitype/"/>
    <ds:schemaRef ds:uri="f41829d9-305b-4af6-8494-753a2a44d293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4a92416-d9ca-4b07-a40e-6415e67b2c58"/>
  </ds:schemaRefs>
</ds:datastoreItem>
</file>

<file path=customXml/itemProps2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33965</TotalTime>
  <Words>581</Words>
  <Application>Microsoft Office PowerPoint</Application>
  <PresentationFormat>Widescreen</PresentationFormat>
  <Paragraphs>120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Wingdings 2</vt:lpstr>
      <vt:lpstr>Wingdings 3</vt:lpstr>
      <vt:lpstr>ARMLab CU-ICAR</vt:lpstr>
      <vt:lpstr>LAB-01 Developer Onramp</vt:lpstr>
      <vt:lpstr>Lab Outline and Expected Outcomes</vt:lpstr>
      <vt:lpstr>PowerPoint Presentation</vt:lpstr>
      <vt:lpstr>Linux 101</vt:lpstr>
      <vt:lpstr>Linux 101</vt:lpstr>
      <vt:lpstr>PowerPoint Presentation</vt:lpstr>
      <vt:lpstr>Git 101</vt:lpstr>
      <vt:lpstr>Git 101</vt:lpstr>
      <vt:lpstr>PowerPoint Presentation</vt:lpstr>
      <vt:lpstr>Docker 101</vt:lpstr>
      <vt:lpstr>Docker 101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Tanmay Samak</cp:lastModifiedBy>
  <cp:revision>315</cp:revision>
  <dcterms:created xsi:type="dcterms:W3CDTF">2020-04-29T07:35:04Z</dcterms:created>
  <dcterms:modified xsi:type="dcterms:W3CDTF">2026-10-17T23:09:01Z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